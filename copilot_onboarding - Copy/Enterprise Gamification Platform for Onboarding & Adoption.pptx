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1" r:id="rId3"/>
    <p:sldId id="260" r:id="rId4"/>
    <p:sldId id="262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047" autoAdjust="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BA54-2776-E798-2B24-3D1D293A7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CEE49-DE87-2C0B-7F4D-A44055204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11A88-C82B-9C2C-DB83-E75532A31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C8E78-0F47-4332-B657-316CE7FBEA87}" type="datetimeFigureOut">
              <a:rPr lang="en-IN" smtClean="0"/>
              <a:t>2025-07-20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8FA4E-2612-788B-A083-D64B449D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36056-5D71-57A6-F171-2F1D673C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1DFC-A1B5-4BFC-A4B6-77C33D678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786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F494F-F8F1-4CD5-77D6-72079246C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6BF87-21D3-D7BB-C480-B33411CAA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F1460-247B-957B-93CF-E0296B90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C8E78-0F47-4332-B657-316CE7FBEA87}" type="datetimeFigureOut">
              <a:rPr lang="en-IN" smtClean="0"/>
              <a:t>2025-07-20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58647-707B-9A2A-A9A3-46DFF94B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398CD-054D-32D3-C34B-90980871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1DFC-A1B5-4BFC-A4B6-77C33D678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473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A44AA-E231-E3F6-F2AD-F410B740A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A1E7A-2CAE-489E-10BA-BF5B88EF3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C16B5-208C-7FD9-5EEE-E9E397F5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C8E78-0F47-4332-B657-316CE7FBEA87}" type="datetimeFigureOut">
              <a:rPr lang="en-IN" smtClean="0"/>
              <a:t>2025-07-20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0EA48-0CCB-CFEA-E4B0-66BF2420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32C70-6F1D-B92D-CF80-D42440B0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1DFC-A1B5-4BFC-A4B6-77C33D678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37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5446-356E-667F-0F0E-E4F824BC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C8485-59FF-D0F8-C041-561C918ACF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41643-8D5F-8409-B730-F96DB6B85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31F9E-1588-BDE2-848A-C8E2F1E10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C8E78-0F47-4332-B657-316CE7FBEA87}" type="datetimeFigureOut">
              <a:rPr lang="en-IN" smtClean="0"/>
              <a:t>2025-07-20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917FE-8A83-5931-45EB-F99A3900A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3C8A0-2EE4-5AEF-6247-187362DC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1DFC-A1B5-4BFC-A4B6-77C33D678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68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376D-F11B-2164-270E-4F6E180AF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2E104-8726-2296-8035-C608DE24A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8CA34-584B-A5D1-77E0-6CD393AF3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9BDE92-0BD6-DB65-2CC7-9FB832062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616235-E830-3320-187F-17BAB712F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F3B6A8-0462-29FA-BF4F-B97F01D2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C8E78-0F47-4332-B657-316CE7FBEA87}" type="datetimeFigureOut">
              <a:rPr lang="en-IN" smtClean="0"/>
              <a:t>2025-07-20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CF762D-A7D8-7AC5-329C-ACF150903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4A5C7C-3496-D2BD-6D2A-35B399B8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1DFC-A1B5-4BFC-A4B6-77C33D678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37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AB35-F6B1-57E5-4DD6-6730C8206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31D0B-6295-E19F-12E1-DED6457F6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C8E78-0F47-4332-B657-316CE7FBEA87}" type="datetimeFigureOut">
              <a:rPr lang="en-IN" smtClean="0"/>
              <a:t>2025-07-20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567EF0-5EA5-3AAA-35B5-A4C453F05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40385-4552-9CE5-DF5A-4EF179B4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1DFC-A1B5-4BFC-A4B6-77C33D678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60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01153-F4A3-70B6-ED6F-C0E10BF9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C8E78-0F47-4332-B657-316CE7FBEA87}" type="datetimeFigureOut">
              <a:rPr lang="en-IN" smtClean="0"/>
              <a:t>2025-07-20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04CBD8-3E8C-31AC-9986-42D4A17D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5391A-7971-2AFB-4166-2A99EA086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1DFC-A1B5-4BFC-A4B6-77C33D678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864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2146-8D48-F6E5-1220-C5AD1B1BD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A1915-1B5C-17D0-3BBC-BFA56B7FE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378BB-5AB1-6A62-53AF-6F416F115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781FD-1464-C000-851F-9620119A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C8E78-0F47-4332-B657-316CE7FBEA87}" type="datetimeFigureOut">
              <a:rPr lang="en-IN" smtClean="0"/>
              <a:t>2025-07-20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CE25A-78E7-CDF5-EA7A-1F22878C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AF6C9-6243-D4D1-1373-E9486B00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1DFC-A1B5-4BFC-A4B6-77C33D678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032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E884A-6A50-B6D0-3251-5936E3934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4461E-430B-DDF3-3F6A-9A43006D9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54DC0E-3836-A304-DF6C-5C63AE82C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7BEE7-78F3-652F-A44A-9EF5FF445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C8E78-0F47-4332-B657-316CE7FBEA87}" type="datetimeFigureOut">
              <a:rPr lang="en-IN" smtClean="0"/>
              <a:t>2025-07-20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E2133-8718-2503-4FF7-2B77CFFE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C722A-A2A5-5B92-F6C1-58387BA9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1DFC-A1B5-4BFC-A4B6-77C33D678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38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ADC2-B5DF-BA76-31DF-9EC92411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6671-45FE-A5A3-13A1-67AAD0D7A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51838-2878-893F-88AD-356B34580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C8E78-0F47-4332-B657-316CE7FBEA87}" type="datetimeFigureOut">
              <a:rPr lang="en-IN" smtClean="0"/>
              <a:t>2025-07-20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9173-E37D-76FD-AFA2-17ABB57DE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AA185-85BC-CC6A-BA94-B9C30D3C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1DFC-A1B5-4BFC-A4B6-77C33D678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37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C6EA26-14AB-8F39-BC30-4A4EC8534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3DBB6-521C-427F-492A-F8B2AAB95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B817A-10DA-2071-C010-2593DB687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C8E78-0F47-4332-B657-316CE7FBEA87}" type="datetimeFigureOut">
              <a:rPr lang="en-IN" smtClean="0"/>
              <a:t>2025-07-20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19E0B-E82E-2B8C-88D0-FE18421D1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2BD9D-487C-57DA-EF88-701351A1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91DFC-A1B5-4BFC-A4B6-77C33D678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14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59F3E5-F080-49AF-265D-E74D61F41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F6297-54C4-BB1F-D6C8-F202D23DD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A94BE-B6EF-8099-527F-EC8E79E03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C8E78-0F47-4332-B657-316CE7FBEA87}" type="datetimeFigureOut">
              <a:rPr lang="en-IN" smtClean="0"/>
              <a:t>2025-07-20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6FF6F-9535-3FBB-9226-99CA0439D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5604D-8E45-6848-D52A-B5C9D84E7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91DFC-A1B5-4BFC-A4B6-77C33D678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92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BB82C-C9CE-9DAB-AA32-2A5BB487E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429345" cy="1698658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/>
              <a:t>Enterprise Gamification Platform for Onboarding &amp; Adoption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5428DE-CC45-5383-11D3-ECF519FDB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21022"/>
            <a:ext cx="9144000" cy="535022"/>
          </a:xfrm>
        </p:spPr>
        <p:txBody>
          <a:bodyPr/>
          <a:lstStyle/>
          <a:p>
            <a:pPr algn="l"/>
            <a:r>
              <a:rPr lang="en-GB" i="1" dirty="0"/>
              <a:t>Drive Engagement, Accelerate Productivity, and Measure Success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C515D0-7609-24FD-65E4-4E237DA81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863" y="3287950"/>
            <a:ext cx="7878274" cy="336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903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E5E65-32E2-062A-AC79-6E1A3BF3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Gamification is a Game-Changer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09201-23AB-6B65-9164-7083127F91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Problem:</a:t>
            </a:r>
            <a:r>
              <a:rPr lang="en-GB" dirty="0"/>
              <a:t> Traditional onboarding is </a:t>
            </a:r>
            <a:r>
              <a:rPr lang="en-GB" b="1" dirty="0"/>
              <a:t>costly, slow, and disengaging</a:t>
            </a:r>
            <a:r>
              <a:rPr lang="en-GB" dirty="0"/>
              <a:t> (~30% turnover in first 90 days).</a:t>
            </a:r>
          </a:p>
          <a:p>
            <a:r>
              <a:rPr lang="en-GB" b="1" dirty="0"/>
              <a:t>Solution:</a:t>
            </a:r>
            <a:r>
              <a:rPr lang="en-GB" dirty="0"/>
              <a:t> Gamification </a:t>
            </a:r>
            <a:r>
              <a:rPr lang="en-GB" b="1" dirty="0"/>
              <a:t>boosts engagement by 60%+</a:t>
            </a:r>
            <a:r>
              <a:rPr lang="en-GB" dirty="0"/>
              <a:t> and </a:t>
            </a:r>
            <a:r>
              <a:rPr lang="en-GB" b="1" dirty="0"/>
              <a:t>cuts time-to-proficiency by 50%</a:t>
            </a:r>
            <a:r>
              <a:rPr lang="en-GB" dirty="0"/>
              <a:t>.</a:t>
            </a:r>
          </a:p>
          <a:p>
            <a:r>
              <a:rPr lang="en-GB" b="1" dirty="0"/>
              <a:t>ROI:</a:t>
            </a:r>
            <a:r>
              <a:rPr lang="en-GB" dirty="0"/>
              <a:t> Enterprises see </a:t>
            </a:r>
            <a:r>
              <a:rPr lang="en-GB" b="1" dirty="0"/>
              <a:t>200%+ higher retention</a:t>
            </a:r>
            <a:r>
              <a:rPr lang="en-GB" dirty="0"/>
              <a:t> and </a:t>
            </a:r>
            <a:r>
              <a:rPr lang="en-GB" b="1" dirty="0"/>
              <a:t>measurable productivity gains</a:t>
            </a:r>
            <a:r>
              <a:rPr lang="en-GB" dirty="0"/>
              <a:t>.</a:t>
            </a:r>
            <a:br>
              <a:rPr lang="en-GB" dirty="0"/>
            </a:br>
            <a:r>
              <a:rPr lang="en-GB" b="1" dirty="0"/>
              <a:t>Visual:</a:t>
            </a:r>
            <a:r>
              <a:rPr lang="en-GB" dirty="0"/>
              <a:t> ROI stats in bold, side-by-side comparison (Old vs. New).</a:t>
            </a:r>
          </a:p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AD9F2BB-CDA2-48FF-B278-3C51000E6D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690688"/>
            <a:ext cx="5181600" cy="4019448"/>
          </a:xfrm>
        </p:spPr>
      </p:pic>
    </p:spTree>
    <p:extLst>
      <p:ext uri="{BB962C8B-B14F-4D97-AF65-F5344CB8AC3E}">
        <p14:creationId xmlns:p14="http://schemas.microsoft.com/office/powerpoint/2010/main" val="2318213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37CC5-A87B-3209-CC88-CB8843FA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Gamification = Game Mechanics + </a:t>
            </a:r>
            <a:r>
              <a:rPr lang="en-GB" dirty="0" err="1"/>
              <a:t>Behavioral</a:t>
            </a:r>
            <a:r>
              <a:rPr lang="en-GB" dirty="0"/>
              <a:t> Science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A03D9B-F940-E67F-4336-F42AAA21CA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Mechanics:</a:t>
            </a:r>
            <a:r>
              <a:rPr lang="en-IN" dirty="0"/>
              <a:t> Points (XP), Badges, Leaderboards, Quests, Levels, Avatars.</a:t>
            </a:r>
          </a:p>
          <a:p>
            <a:r>
              <a:rPr lang="en-IN" b="1" dirty="0"/>
              <a:t>Dynamics:</a:t>
            </a:r>
            <a:r>
              <a:rPr lang="en-IN" dirty="0"/>
              <a:t> Progression, Competition, Collaboration, Rewards.</a:t>
            </a:r>
          </a:p>
          <a:p>
            <a:r>
              <a:rPr lang="en-IN" b="1" dirty="0"/>
              <a:t>AI/ML:</a:t>
            </a:r>
            <a:r>
              <a:rPr lang="en-IN" dirty="0"/>
              <a:t> Adaptive learning paths, predictive analytics for engagement.</a:t>
            </a:r>
          </a:p>
          <a:p>
            <a:r>
              <a:rPr lang="en-IN" b="1" dirty="0"/>
              <a:t>API Integrations:</a:t>
            </a:r>
            <a:r>
              <a:rPr lang="en-IN" dirty="0"/>
              <a:t> Works with </a:t>
            </a:r>
            <a:r>
              <a:rPr lang="en-IN" b="1" dirty="0"/>
              <a:t>LMS (Workday, Cornerstone), HRIS (SAP SuccessFactors), MS Teams, Slack</a:t>
            </a:r>
            <a:r>
              <a:rPr lang="en-IN" dirty="0"/>
              <a:t>.</a:t>
            </a:r>
            <a:br>
              <a:rPr lang="en-IN" dirty="0"/>
            </a:br>
            <a:r>
              <a:rPr lang="en-IN" b="1" dirty="0"/>
              <a:t>Visual:</a:t>
            </a:r>
            <a:r>
              <a:rPr lang="en-IN" dirty="0"/>
              <a:t> Ecosystem diagram (Platform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5A617D-4EE6-2D47-739A-4C26E112FE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ECD4F3-EA84-375C-A46B-C8FDED1DF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5625"/>
            <a:ext cx="5353954" cy="322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14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DB2ED-0250-109F-22AA-A45BE652A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Architecture of a Gamified Onboarding Platform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92CFE-034A-A489-A25B-ACC35C6A7F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b="1"/>
              <a:t>User Journey Mapping</a:t>
            </a:r>
            <a:r>
              <a:rPr lang="en-IN"/>
              <a:t> – Personalized onboarding quests.</a:t>
            </a:r>
          </a:p>
          <a:p>
            <a:r>
              <a:rPr lang="en-IN" b="1"/>
              <a:t>Real-Time Analytics</a:t>
            </a:r>
            <a:r>
              <a:rPr lang="en-IN"/>
              <a:t> – SCORM/xAPI compliance for tracking.</a:t>
            </a:r>
          </a:p>
          <a:p>
            <a:r>
              <a:rPr lang="en-IN" b="1"/>
              <a:t>Microlearning Modules</a:t>
            </a:r>
            <a:r>
              <a:rPr lang="en-IN"/>
              <a:t> – Bite-sized, mobile-friendly content.</a:t>
            </a:r>
          </a:p>
          <a:p>
            <a:r>
              <a:rPr lang="en-IN" b="1"/>
              <a:t>Social Proof</a:t>
            </a:r>
            <a:r>
              <a:rPr lang="en-IN"/>
              <a:t> – Peer recognition via NFTs (optional).</a:t>
            </a:r>
            <a:br>
              <a:rPr lang="en-IN"/>
            </a:br>
            <a:r>
              <a:rPr lang="en-IN" b="1"/>
              <a:t>Visual:</a:t>
            </a:r>
            <a:r>
              <a:rPr lang="en-IN"/>
              <a:t> System architecture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058BB2-91EF-6F00-E74F-8A6DECF5BB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485DA8-F2A7-2FBB-3EA2-A0B41B8A5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45140"/>
            <a:ext cx="5778630" cy="521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13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F11C7-8847-5DD7-444C-BCA9B1276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Business Case for Gamification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458C4-D1B2-1DB3-7471-0C76D5478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52145"/>
            <a:ext cx="5181600" cy="4824818"/>
          </a:xfrm>
        </p:spPr>
        <p:txBody>
          <a:bodyPr/>
          <a:lstStyle/>
          <a:p>
            <a:r>
              <a:rPr lang="en-IN" dirty="0"/>
              <a:t>📌 </a:t>
            </a:r>
            <a:r>
              <a:rPr lang="en-IN" b="1" dirty="0"/>
              <a:t>Deloitte:</a:t>
            </a:r>
            <a:r>
              <a:rPr lang="en-IN" dirty="0"/>
              <a:t> Gamified programs </a:t>
            </a:r>
            <a:r>
              <a:rPr lang="en-IN" b="1" dirty="0"/>
              <a:t>improve retention by 83%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📌 </a:t>
            </a:r>
            <a:r>
              <a:rPr lang="en-IN" b="1" dirty="0"/>
              <a:t>Aberdeen Group:</a:t>
            </a:r>
            <a:r>
              <a:rPr lang="en-IN" dirty="0"/>
              <a:t> </a:t>
            </a:r>
            <a:r>
              <a:rPr lang="en-IN" b="1" dirty="0"/>
              <a:t>50% faster onboarding</a:t>
            </a:r>
            <a:r>
              <a:rPr lang="en-IN" dirty="0"/>
              <a:t> vs. traditional methods.</a:t>
            </a:r>
            <a:br>
              <a:rPr lang="en-IN" dirty="0"/>
            </a:br>
            <a:r>
              <a:rPr lang="en-IN" dirty="0"/>
              <a:t>📌 </a:t>
            </a:r>
            <a:r>
              <a:rPr lang="en-IN" b="1" dirty="0"/>
              <a:t>PwC:</a:t>
            </a:r>
            <a:r>
              <a:rPr lang="en-IN" dirty="0"/>
              <a:t> Gamification </a:t>
            </a:r>
            <a:r>
              <a:rPr lang="en-IN" b="1" dirty="0"/>
              <a:t>increases productivity by 40%</a:t>
            </a:r>
            <a:r>
              <a:rPr lang="en-IN" dirty="0"/>
              <a:t>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561B2D7-0B0F-7EB3-4139-3C04BCE53E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9302" y="4507455"/>
            <a:ext cx="9805481" cy="235054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11481-6ECC-236B-8231-291E2FF2A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352145"/>
            <a:ext cx="3582275" cy="315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35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5F3FC-913A-AA69-4D5D-AAF39BFB9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701719" cy="1056633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Ideal Scenarios for Gamification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B2A4E-20C0-4136-6D36-8A2A557B0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63821"/>
            <a:ext cx="9144000" cy="1974715"/>
          </a:xfrm>
        </p:spPr>
        <p:txBody>
          <a:bodyPr>
            <a:normAutofit/>
          </a:bodyPr>
          <a:lstStyle/>
          <a:p>
            <a:r>
              <a:rPr lang="en-IN" b="1" dirty="0"/>
              <a:t>M&amp;A Integration:</a:t>
            </a:r>
            <a:r>
              <a:rPr lang="en-IN" dirty="0"/>
              <a:t> Align cultures post-merger (e.g., Salesforce onboarding).</a:t>
            </a:r>
          </a:p>
          <a:p>
            <a:r>
              <a:rPr lang="en-IN" b="1" dirty="0"/>
              <a:t>Digital Transformation:</a:t>
            </a:r>
            <a:r>
              <a:rPr lang="en-IN" dirty="0"/>
              <a:t> Drive adoption of new tools (e.g., SAP rollout).</a:t>
            </a:r>
          </a:p>
          <a:p>
            <a:r>
              <a:rPr lang="en-IN" b="1" dirty="0"/>
              <a:t>Compliance Training:</a:t>
            </a:r>
            <a:r>
              <a:rPr lang="en-IN" dirty="0"/>
              <a:t> Turn dry content into interactive challenges.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BB83A4-0530-CB5F-0A78-EBEFBE0D8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78" y="4338536"/>
            <a:ext cx="11984122" cy="21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7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6ACB-C216-3E2C-9973-4ADA6DF47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6655"/>
            <a:ext cx="9144000" cy="1605064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/>
              <a:t>How Top Companies Succeed with Gamification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90FE51-2A6C-A433-A6BA-15C76F69F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17907"/>
            <a:ext cx="9144000" cy="189689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GB" b="1" dirty="0"/>
              <a:t>Align with KPIs</a:t>
            </a:r>
            <a:r>
              <a:rPr lang="en-GB" dirty="0"/>
              <a:t> – Tie rewards to </a:t>
            </a:r>
            <a:r>
              <a:rPr lang="en-GB" b="1" dirty="0"/>
              <a:t>time-to-productivity, completion rates</a:t>
            </a:r>
            <a:r>
              <a:rPr lang="en-GB" dirty="0"/>
              <a:t>.</a:t>
            </a:r>
          </a:p>
          <a:p>
            <a:pPr algn="l"/>
            <a:r>
              <a:rPr lang="en-GB" b="1" dirty="0"/>
              <a:t>Leverage AI</a:t>
            </a:r>
            <a:r>
              <a:rPr lang="en-GB" dirty="0"/>
              <a:t> – Use </a:t>
            </a:r>
            <a:r>
              <a:rPr lang="en-GB" b="1" dirty="0"/>
              <a:t>predictive analytics</a:t>
            </a:r>
            <a:r>
              <a:rPr lang="en-GB" dirty="0"/>
              <a:t> to flag at-risk learners.</a:t>
            </a:r>
          </a:p>
          <a:p>
            <a:pPr algn="l"/>
            <a:r>
              <a:rPr lang="en-GB" b="1" dirty="0"/>
              <a:t>Continuous Feedback</a:t>
            </a:r>
            <a:r>
              <a:rPr lang="en-GB" dirty="0"/>
              <a:t> – Pulse surveys + sentiment analysis.</a:t>
            </a:r>
          </a:p>
          <a:p>
            <a:pPr algn="l"/>
            <a:r>
              <a:rPr lang="en-GB" b="1" dirty="0"/>
              <a:t>Leadership Buy-In</a:t>
            </a:r>
            <a:r>
              <a:rPr lang="en-GB" dirty="0"/>
              <a:t> – Executives should </a:t>
            </a:r>
            <a:r>
              <a:rPr lang="en-GB" b="1" dirty="0"/>
              <a:t>publicly endorse &amp; participate</a:t>
            </a:r>
            <a:r>
              <a:rPr lang="en-GB" dirty="0"/>
              <a:t>.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C1623-1C80-6C8C-7C7D-1CDA05ACA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17" y="4017205"/>
            <a:ext cx="7772400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2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7682D-9FA7-21C7-516B-8EA48B70B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1285"/>
            <a:ext cx="9144000" cy="1789889"/>
          </a:xfrm>
        </p:spPr>
        <p:txBody>
          <a:bodyPr/>
          <a:lstStyle/>
          <a:p>
            <a:r>
              <a:rPr lang="en-GB" dirty="0"/>
              <a:t>IBM’s Gamified Onboarding (New Hire Orientation)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ED643-9E98-FEB9-E761-575C17450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5106"/>
            <a:ext cx="9144000" cy="2237362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90% engagement rate</a:t>
            </a:r>
            <a:r>
              <a:rPr lang="en-GB" dirty="0"/>
              <a:t> (vs. 30% previously).</a:t>
            </a:r>
          </a:p>
          <a:p>
            <a:pPr algn="l"/>
            <a:r>
              <a:rPr lang="en-GB" b="1" dirty="0"/>
              <a:t>2x faster ramp-up</a:t>
            </a:r>
            <a:r>
              <a:rPr lang="en-GB" dirty="0"/>
              <a:t> for sales teams.</a:t>
            </a:r>
          </a:p>
          <a:p>
            <a:pPr algn="l"/>
            <a:r>
              <a:rPr lang="en-GB" b="1" dirty="0"/>
              <a:t>Badges = 40% higher content retention</a:t>
            </a:r>
            <a:r>
              <a:rPr lang="en-GB" dirty="0"/>
              <a:t>.</a:t>
            </a:r>
            <a:br>
              <a:rPr lang="en-GB" dirty="0"/>
            </a:br>
            <a:r>
              <a:rPr lang="en-GB" b="1" dirty="0"/>
              <a:t>Visual:</a:t>
            </a:r>
            <a:r>
              <a:rPr lang="en-GB" dirty="0"/>
              <a:t> Before/After dashboard </a:t>
            </a:r>
            <a:r>
              <a:rPr lang="en-GB" dirty="0" err="1"/>
              <a:t>mockup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918589-375A-3979-424D-2235EDCEB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715" y="4474696"/>
            <a:ext cx="8698336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96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EC5B-01BA-0512-7721-11A08A5BE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2919"/>
            <a:ext cx="9144000" cy="1624519"/>
          </a:xfrm>
        </p:spPr>
        <p:txBody>
          <a:bodyPr>
            <a:normAutofit/>
          </a:bodyPr>
          <a:lstStyle/>
          <a:p>
            <a:pPr algn="l"/>
            <a:r>
              <a:rPr lang="en-IN" sz="5400" dirty="0"/>
              <a:t>Siemens’ "</a:t>
            </a:r>
            <a:r>
              <a:rPr lang="en-IN" sz="5400" dirty="0" err="1"/>
              <a:t>Plantville</a:t>
            </a:r>
            <a:r>
              <a:rPr lang="en-IN" sz="5400" dirty="0"/>
              <a:t>" (Simulation Gamification)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1FF73-C73C-3D41-64DE-9A9A8F5B4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23353"/>
            <a:ext cx="9144000" cy="1906621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50% reduction in training costs</a:t>
            </a:r>
            <a:r>
              <a:rPr lang="en-GB" dirty="0"/>
              <a:t>.</a:t>
            </a:r>
          </a:p>
          <a:p>
            <a:pPr algn="l"/>
            <a:r>
              <a:rPr lang="en-GB" b="1" dirty="0"/>
              <a:t>75% of employees voluntarily replayed modules</a:t>
            </a:r>
            <a:r>
              <a:rPr lang="en-GB" dirty="0"/>
              <a:t>.</a:t>
            </a:r>
          </a:p>
          <a:p>
            <a:pPr algn="l"/>
            <a:r>
              <a:rPr lang="en-GB" b="1" dirty="0"/>
              <a:t>30% improvement in process adherence</a:t>
            </a:r>
            <a:r>
              <a:rPr lang="en-GB" dirty="0"/>
              <a:t>.</a:t>
            </a:r>
            <a:br>
              <a:rPr lang="en-GB" dirty="0"/>
            </a:br>
            <a:r>
              <a:rPr lang="en-GB" b="1" dirty="0"/>
              <a:t>Visual:</a:t>
            </a:r>
            <a:r>
              <a:rPr lang="en-GB" dirty="0"/>
              <a:t> Screenshot of </a:t>
            </a:r>
            <a:r>
              <a:rPr lang="en-GB" dirty="0" err="1"/>
              <a:t>Plantville</a:t>
            </a:r>
            <a:r>
              <a:rPr lang="en-GB" dirty="0"/>
              <a:t> UI.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BBAE56-F11C-FE9E-8AB2-911808172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458" y="3685214"/>
            <a:ext cx="5725324" cy="23653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0F32C7-013A-A429-8F33-E2C9C9B98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043" y="1361872"/>
            <a:ext cx="2873415" cy="494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44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1DE5-AB51-D5DE-7E7E-9F860BBC7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Tangible ROI for Leadership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B4676-83CC-9169-280E-201EAFACEF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💰 </a:t>
            </a:r>
            <a:r>
              <a:rPr lang="en-GB" b="1" dirty="0"/>
              <a:t>Cost Savings:</a:t>
            </a:r>
            <a:r>
              <a:rPr lang="en-GB" dirty="0"/>
              <a:t> Cut onboarding time = </a:t>
            </a:r>
            <a:r>
              <a:rPr lang="en-GB" b="1" dirty="0"/>
              <a:t>$10K+/hire saved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📈 </a:t>
            </a:r>
            <a:r>
              <a:rPr lang="en-GB" b="1" dirty="0"/>
              <a:t>Revenue Impact:</a:t>
            </a:r>
            <a:r>
              <a:rPr lang="en-GB" dirty="0"/>
              <a:t> Sales teams </a:t>
            </a:r>
            <a:r>
              <a:rPr lang="en-GB" b="1" dirty="0"/>
              <a:t>close deals 20% faster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🔄 </a:t>
            </a:r>
            <a:r>
              <a:rPr lang="en-GB" b="1" dirty="0"/>
              <a:t>Scalability:</a:t>
            </a:r>
            <a:r>
              <a:rPr lang="en-GB" dirty="0"/>
              <a:t> Deploy globally in </a:t>
            </a:r>
            <a:r>
              <a:rPr lang="en-GB" b="1" dirty="0"/>
              <a:t>weeks, not months</a:t>
            </a:r>
            <a:r>
              <a:rPr lang="en-GB" dirty="0"/>
              <a:t>.</a:t>
            </a:r>
            <a:br>
              <a:rPr lang="en-GB" dirty="0"/>
            </a:br>
            <a:r>
              <a:rPr lang="en-GB" b="1" dirty="0"/>
              <a:t>Visual:</a:t>
            </a:r>
            <a:r>
              <a:rPr lang="en-GB" dirty="0"/>
              <a:t> Financial impact infographic.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0DD1118-D944-30A4-5336-4F59660E0B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0CC9E2-81BB-4F39-77AB-062C3AE81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5625"/>
            <a:ext cx="50535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10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A1A9-A6AB-7122-62D2-924B354E3E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Mitigating Risks, Maximizing Rewards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7DA7E3-5CD9-1708-90ED-4429EA7AC0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79E6CF-8EE7-6CDB-68EC-901165379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413616"/>
              </p:ext>
            </p:extLst>
          </p:nvPr>
        </p:nvGraphicFramePr>
        <p:xfrm>
          <a:off x="838200" y="3779447"/>
          <a:ext cx="10515599" cy="1706880"/>
        </p:xfrm>
        <a:graphic>
          <a:graphicData uri="http://schemas.openxmlformats.org/drawingml/2006/table">
            <a:tbl>
              <a:tblPr/>
              <a:tblGrid>
                <a:gridCol w="3699933">
                  <a:extLst>
                    <a:ext uri="{9D8B030D-6E8A-4147-A177-3AD203B41FA5}">
                      <a16:colId xmlns:a16="http://schemas.microsoft.com/office/drawing/2014/main" val="3077386210"/>
                    </a:ext>
                  </a:extLst>
                </a:gridCol>
                <a:gridCol w="3407833">
                  <a:extLst>
                    <a:ext uri="{9D8B030D-6E8A-4147-A177-3AD203B41FA5}">
                      <a16:colId xmlns:a16="http://schemas.microsoft.com/office/drawing/2014/main" val="1811540726"/>
                    </a:ext>
                  </a:extLst>
                </a:gridCol>
                <a:gridCol w="3407833">
                  <a:extLst>
                    <a:ext uri="{9D8B030D-6E8A-4147-A177-3AD203B41FA5}">
                      <a16:colId xmlns:a16="http://schemas.microsoft.com/office/drawing/2014/main" val="2066594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rgbClr val="404040"/>
                          </a:solidFill>
                          <a:effectLst/>
                        </a:rPr>
                        <a:t>Pros</a:t>
                      </a:r>
                    </a:p>
                  </a:txBody>
                  <a:tcPr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rgbClr val="404040"/>
                          </a:solidFill>
                          <a:effectLst/>
                        </a:rPr>
                        <a:t>Cons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rgbClr val="404040"/>
                          </a:solidFill>
                          <a:effectLst/>
                        </a:rPr>
                        <a:t>Mitigation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369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+60% engagement</a:t>
                      </a:r>
                    </a:p>
                  </a:txBody>
                  <a:tcPr marR="76200" marT="76200" marB="76200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Over-Gamification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Use </a:t>
                      </a:r>
                      <a:r>
                        <a:rPr lang="en-IN" b="1">
                          <a:effectLst/>
                        </a:rPr>
                        <a:t>balanced mechanics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2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50% faster learning</a:t>
                      </a:r>
                    </a:p>
                  </a:txBody>
                  <a:tcPr marR="76200" marT="76200" marB="76200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Upfront costs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Start with </a:t>
                      </a:r>
                      <a:r>
                        <a:rPr lang="en-IN" b="1">
                          <a:effectLst/>
                        </a:rPr>
                        <a:t>MVP pilot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637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Real-time analytics</a:t>
                      </a:r>
                    </a:p>
                  </a:txBody>
                  <a:tcPr marR="76200" marT="76200" marB="76200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Change resistance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</a:rPr>
                        <a:t>Champions program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993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928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76F3C-BF67-3B1A-7753-F6F44A0D4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9251" y="1063998"/>
            <a:ext cx="10668000" cy="920446"/>
          </a:xfrm>
        </p:spPr>
        <p:txBody>
          <a:bodyPr/>
          <a:lstStyle/>
          <a:p>
            <a:pPr algn="l"/>
            <a:r>
              <a:rPr lang="en-GB" dirty="0"/>
              <a:t>Next Steps to Launch Gamification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7C252-E10D-74BF-3FF6-A725A8AE9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84444"/>
            <a:ext cx="9144000" cy="2149811"/>
          </a:xfrm>
        </p:spPr>
        <p:txBody>
          <a:bodyPr>
            <a:normAutofit/>
          </a:bodyPr>
          <a:lstStyle/>
          <a:p>
            <a:endParaRPr lang="en-GB" dirty="0"/>
          </a:p>
          <a:p>
            <a:pPr algn="l"/>
            <a:r>
              <a:rPr lang="en-GB" b="1" dirty="0"/>
              <a:t>Pilot Program</a:t>
            </a:r>
            <a:r>
              <a:rPr lang="en-GB" dirty="0"/>
              <a:t> – Test with 100 new hires (3-month sprint).</a:t>
            </a:r>
          </a:p>
          <a:p>
            <a:pPr algn="l"/>
            <a:r>
              <a:rPr lang="en-GB" b="1" dirty="0"/>
              <a:t>Custom Demo</a:t>
            </a:r>
            <a:r>
              <a:rPr lang="en-GB" dirty="0"/>
              <a:t> – See platform tailored to your workflows.</a:t>
            </a:r>
          </a:p>
          <a:p>
            <a:pPr algn="l"/>
            <a:r>
              <a:rPr lang="en-GB" b="1" dirty="0"/>
              <a:t>ROI Forecast</a:t>
            </a:r>
            <a:r>
              <a:rPr lang="en-GB" dirty="0"/>
              <a:t> – We’ll model your expected savings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17EE24-146D-393F-73B9-8DC6C2F90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34" y="3813243"/>
            <a:ext cx="9144000" cy="244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09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3ADB04-0CC2-127F-A7EE-E17CC9F01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771" y="0"/>
            <a:ext cx="64904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57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537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Enterprise Gamification Platform for Onboarding &amp; Adoption</vt:lpstr>
      <vt:lpstr>Gamification is a Game-Changer</vt:lpstr>
      <vt:lpstr>Gamification = Game Mechanics + Behavioral Science</vt:lpstr>
      <vt:lpstr>Architecture of a Gamified Onboarding Platform</vt:lpstr>
      <vt:lpstr>The Business Case for Gamification</vt:lpstr>
      <vt:lpstr>Ideal Scenarios for Gamification</vt:lpstr>
      <vt:lpstr>How Top Companies Succeed with Gamification</vt:lpstr>
      <vt:lpstr>IBM’s Gamified Onboarding (New Hire Orientation)</vt:lpstr>
      <vt:lpstr>Siemens’ "Plantville" (Simulation Gamification)</vt:lpstr>
      <vt:lpstr>Tangible ROI for Leadership</vt:lpstr>
      <vt:lpstr>Mitigating Risks, Maximizing Rewards</vt:lpstr>
      <vt:lpstr>Next Steps to Launch Gamification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Kamlesh Gangaramani</dc:creator>
  <cp:lastModifiedBy>Kamlesh Gangaramani</cp:lastModifiedBy>
  <cp:revision>10</cp:revision>
  <dcterms:created xsi:type="dcterms:W3CDTF">2025-07-20T06:23:22Z</dcterms:created>
  <dcterms:modified xsi:type="dcterms:W3CDTF">2025-07-20T10:29:42Z</dcterms:modified>
</cp:coreProperties>
</file>